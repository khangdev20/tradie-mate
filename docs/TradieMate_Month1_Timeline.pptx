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1A1A"/>
                </a:solidFill>
                <a:latin typeface="Arial"/>
              </a:rPr>
              <a:t>MRR target ($AUD)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MRR</c:v>
                </c:pt>
              </c:strCache>
            </c:strRef>
          </c:tx>
          <c:spPr>
            <a:solidFill>
              <a:srgbClr val="2E6B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3D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39</c:v>
                </c:pt>
                <c:pt idx="3">
                  <c:v>117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3D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731520"/>
            <a:ext cx="4572000" cy="4572000"/>
          </a:xfrm>
          <a:prstGeom prst="ellipse">
            <a:avLst/>
          </a:prstGeom>
          <a:solidFill>
            <a:srgbClr val="2E6B45">
              <a:alpha val="12000"/>
            </a:srgbClr>
          </a:solidFill>
          <a:ln w="12700">
            <a:solidFill>
              <a:srgbClr val="2E6B4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2743200" cy="2743200"/>
          </a:xfrm>
          <a:prstGeom prst="ellipse">
            <a:avLst/>
          </a:prstGeom>
          <a:solidFill>
            <a:srgbClr val="2E6B45">
              <a:alpha val="20000"/>
            </a:srgbClr>
          </a:solidFill>
          <a:ln w="12700">
            <a:solidFill>
              <a:srgbClr val="2E6B45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82296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After Launch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13898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· Barriers · Survival Guide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Dev → Startup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359152"/>
            <a:ext cx="1737360" cy="65836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window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377440" y="2359152"/>
            <a:ext cx="1737360" cy="65836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77440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barriers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77440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→ Startup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97680" y="2359152"/>
            <a:ext cx="1737360" cy="65836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goal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297680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tradie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TradieMate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1–7  ·  LAUNCH DAY REALITY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ai dùng app ngay ngày đầu — và đó là bình thường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 SẼ XẢY RA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4023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37360"/>
            <a:ext cx="54864" cy="67665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938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8013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xuất hiện ngay lập tức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0848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bạn test 100 lần sẽ crash trên điện thoại của tradie đầu tiên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2487168"/>
            <a:ext cx="4023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2487168"/>
            <a:ext cx="54864" cy="676656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919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5511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nhưng không dùng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60120" y="2834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người download app sẽ không mở lần 2 nếu không được onboard đúng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11480" y="3236976"/>
            <a:ext cx="4023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1480" y="3236976"/>
            <a:ext cx="54864" cy="676656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290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3009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sẽ muốn thêm feature ngay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60120" y="35844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mọi urge để add feature mới — fix bugs và onboard tradies trước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11480" y="3986784"/>
            <a:ext cx="4023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11480" y="3986784"/>
            <a:ext cx="54864" cy="67665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17880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40507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users im lặng = bad signal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60120" y="43342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họ không dùng sau 48h, gọi điện hỏi tại sao — đừng đợi feedback tự đến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754880" y="14173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TỪNG NGÀY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754880" y="1737360"/>
            <a:ext cx="347472" cy="347472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7548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điện cho từng beta user — 10 cuộc gọi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212080" y="193852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họ mở app cùng bạn qua điện thoại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754880" y="2176272"/>
            <a:ext cx="347472" cy="347472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75488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212080" y="21945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mọi bug được report trong 24h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212080" y="237744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nhanh = trust đầu tiên với tradie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754880" y="2615184"/>
            <a:ext cx="347472" cy="347472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75488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212080" y="263347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 với 10 beta users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212080" y="281635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support — tradies không đọc email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754880" y="3054096"/>
            <a:ext cx="347472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7548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5212080" y="307238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bao nhiêu người tạo invoice?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5212080" y="325526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60% tạo invoice trong 48h đầu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4754880" y="3493008"/>
            <a:ext cx="347472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475488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5212080" y="351129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những ai chưa tạo invoice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5212080" y="3694176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Hỏi: 'Bạn bị stuck ở đâu?' — ghi lại chi tiết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4754880" y="3931920"/>
            <a:ext cx="347472" cy="34747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475488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5212080" y="395020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trong FB Groups: kết quả tuần đầu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5212080" y="413308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promo — chia sẻ learning thật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4754880" y="4370832"/>
            <a:ext cx="347472" cy="34747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4754880" y="4370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5212080" y="438912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review: giữ / bỏ / fix gì?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5212080" y="457200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giờ review, không code — decision time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502920" y="47457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goal: 5 tradies đã tạo invoice thật · Không phải demo, không phải test — invoice thật với khách thật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 8–14  ·  FIRST REAL SIGNAL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2 cho bạn biết: app đang đi đúng hướng hay cần pivot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MATRIX — ĐỌC ĐÚNG DATA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8321040" cy="292608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09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signal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1709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signal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17099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good → 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06640" y="17099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bad → 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029968"/>
            <a:ext cx="83210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939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creation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09397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 trong 48h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43400" y="209397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97880" y="209397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tục — core value prop working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06640" y="209397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onboarding — call từng user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596896"/>
            <a:ext cx="8321040" cy="521208"/>
          </a:xfrm>
          <a:prstGeom prst="rect">
            <a:avLst/>
          </a:prstGeom>
          <a:solidFill>
            <a:srgbClr val="F8F9F6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6090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Users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26609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 dùng &gt;3x/tuần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43400" y="266090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97880" y="266090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tốt — push referral program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0" y="266090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không sticky — hỏi tại sao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163824"/>
            <a:ext cx="83210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278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messages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06040" y="32278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bugs/ngày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3400" y="32278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&gt;15 bugs/ngày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97880" y="322783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enough — start charging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32278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marketing — fix stability trước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730752"/>
            <a:ext cx="8321040" cy="521208"/>
          </a:xfrm>
          <a:prstGeom prst="rect">
            <a:avLst/>
          </a:prstGeom>
          <a:solidFill>
            <a:srgbClr val="F8F9F6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794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informal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06040" y="37947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 nói 'yes' khi hỏi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379476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&lt;2/10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97880" y="379476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converting to paid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06640" y="379476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problem — talk to 20 tradies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4315968"/>
            <a:ext cx="8321040" cy="694944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key action: Hỏi thẳng 'Bạn có trả $39/tháng không?' — ngay sau khi họ tạo invoice đầu tiên thành công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leading indicator quan trọng nhất của tháng đầu. Nếu 0/10 người nói yes → cần re-examine value prop ngay.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  ·  DAY 15–30  ·  CONVERT + ITERATE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điểm chuyển từ 'xây dựng' sang 'bán hàng'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FREE → PAID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4160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54864" cy="42976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92224"/>
            <a:ext cx="502920" cy="20116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922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D1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" y="172821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Email/SMS: end of free trial notice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191109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'Jake, trial kết thúc 7 ngày nữa. Lock in $19/tháng Founder price hôm nay.'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76272"/>
            <a:ext cx="4160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76272"/>
            <a:ext cx="54864" cy="42976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276856"/>
            <a:ext cx="502920" cy="20116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768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D3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" y="221284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call với mỗi active beta user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3957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sales call — feedback call. Offer Founder pricing cuối call.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660904"/>
            <a:ext cx="4160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660904"/>
            <a:ext cx="54864" cy="4297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61488"/>
            <a:ext cx="502920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61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D5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7280" y="26974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ai active nhất → convert first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288036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tạo 5+ invoices là most likely to pay. Focus effort ở đây.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145536"/>
            <a:ext cx="4160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145536"/>
            <a:ext cx="54864" cy="4297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246120"/>
            <a:ext cx="502920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246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D7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97280" y="318211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program: launch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33649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'Giới thiệu 1 tradie → 1 tháng free cho cả hai.' Đơn giản là đủ.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630168"/>
            <a:ext cx="4160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630168"/>
            <a:ext cx="54864" cy="4297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730752"/>
            <a:ext cx="502920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7307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D1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97280" y="366674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case study trong FB Group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7280" y="384962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'Jake M. dùng TradieMate, tiết kiệm 3h/tuần' — real story, real name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4114800"/>
            <a:ext cx="41605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4114800"/>
            <a:ext cx="54864" cy="42976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4215384"/>
            <a:ext cx="502920" cy="20116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2153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D5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97280" y="415137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review: 4 metrics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97280" y="433425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· Churn · Active users · Invoice creation rate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— ĐÚNG CÁCH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1691640"/>
            <a:ext cx="402336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1691640"/>
            <a:ext cx="54864" cy="768096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938528"/>
            <a:ext cx="256032" cy="256032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266944" y="17739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gì: chỉ feature làm tăng invoice rate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266944" y="209397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feature request phải trả lời: 'Cái này làm tradie invoice nhanh hơn không?'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54880" y="2532888"/>
            <a:ext cx="402336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754880" y="2532888"/>
            <a:ext cx="54864" cy="768096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779776"/>
            <a:ext cx="256032" cy="256032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5266944" y="2615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cycle: 3 ngày, không phải 2 tuần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5266944" y="29352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 trong 24h. Small feature trong 3 ngày. Tradie thấy app improve = trust tăng.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4754880" y="3374136"/>
            <a:ext cx="402336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754880" y="3374136"/>
            <a:ext cx="54864" cy="76809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621024"/>
            <a:ext cx="256032" cy="256032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5266944" y="3456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làm: feature từ 1 tradie duy nhất</a:t>
            </a:r>
            <a:endParaRPr lang="en-US" sz="1200" dirty="0"/>
          </a:p>
        </p:txBody>
      </p:sp>
      <p:sp>
        <p:nvSpPr>
          <p:cNvPr id="57" name="Text 52"/>
          <p:cNvSpPr/>
          <p:nvPr/>
        </p:nvSpPr>
        <p:spPr>
          <a:xfrm>
            <a:off x="5266944" y="37764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chỉ 1 người request → wait. Nếu 5+ người request cùng thing → priority cao.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4754880" y="4215384"/>
            <a:ext cx="402336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4754880" y="4215384"/>
            <a:ext cx="54864" cy="76809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462272"/>
            <a:ext cx="256032" cy="256032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5266944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làm: redesign bất cứ gì tuần 3–4</a:t>
            </a:r>
            <a:endParaRPr lang="en-US" sz="1200" dirty="0"/>
          </a:p>
        </p:txBody>
      </p:sp>
      <p:sp>
        <p:nvSpPr>
          <p:cNvPr id="62" name="Text 56"/>
          <p:cNvSpPr/>
          <p:nvPr/>
        </p:nvSpPr>
        <p:spPr>
          <a:xfrm>
            <a:off x="5266944" y="46177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đủ tốt để validate. Redesign tốn 2 tuần mà không tăng revenue.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solidFill>
            <a:srgbClr val="FFF3DC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50292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end targets: 1 paying tradie · 10 active users · &lt;8% churn · Invoice rate &gt;60% · NPS &gt;30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 ·  FULL TIMELINE OVERVIEW  ·  30 DAYS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ngày quyết định sống còn của TradieMate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2029968" cy="47548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8988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D1–7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92024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93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bugs · Onboard 10 tradies · 1:1 support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1389888"/>
            <a:ext cx="2029968" cy="47548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138988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D8–14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51176" y="192024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993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signals · Ask 'would you pay?' · Referral soft launch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54296" y="1389888"/>
            <a:ext cx="2029968" cy="47548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138988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D15–21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72584" y="192024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993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free → paid · Founder pricing · Case study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75704" y="1389888"/>
            <a:ext cx="2029968" cy="4754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704" y="138988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D22–30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93992" y="192024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199339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review · Iterate top 1 feature · Plan Month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999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310128"/>
            <a:ext cx="347472" cy="347472"/>
          </a:xfrm>
          <a:prstGeom prst="ellipse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371246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62456" y="3310128"/>
            <a:ext cx="347472" cy="347472"/>
          </a:xfrm>
          <a:prstGeom prst="ellipse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62456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25296" y="371246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bug fixed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13432" y="3310128"/>
            <a:ext cx="347472" cy="347472"/>
          </a:xfrm>
          <a:prstGeom prst="ellipse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76272" y="371246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invoices created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64408" y="3310128"/>
            <a:ext cx="347472" cy="34747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27248" y="371246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check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15384" y="3310128"/>
            <a:ext cx="347472" cy="34747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15384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78224" y="371246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pay? Yes/No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66360" y="3310128"/>
            <a:ext cx="347472" cy="34747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371246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user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17336" y="3310128"/>
            <a:ext cx="347472" cy="34747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17336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80176" y="371246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live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68312" y="3310128"/>
            <a:ext cx="347472" cy="3474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68312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31152" y="371246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review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019288" y="3310128"/>
            <a:ext cx="347472" cy="3474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19288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82128" y="371246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M2</a:t>
            </a:r>
            <a:endParaRPr lang="en-US" sz="900" dirty="0"/>
          </a:p>
        </p:txBody>
      </p:sp>
      <p:graphicFrame>
        <p:nvGraphicFramePr>
          <p:cNvPr id="49" name="Chart 0" descr=""/>
          <p:cNvGraphicFramePr/>
          <p:nvPr/>
        </p:nvGraphicFramePr>
        <p:xfrm>
          <a:off x="411480" y="4160520"/>
          <a:ext cx="384048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0" name="Shape 47"/>
          <p:cNvSpPr/>
          <p:nvPr/>
        </p:nvSpPr>
        <p:spPr>
          <a:xfrm>
            <a:off x="4572000" y="4133088"/>
            <a:ext cx="4160520" cy="82296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663440" y="41788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Month 1 = $117 MRR (3 paying tradies)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4663440" y="4480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lớn — nhưng đủ để confirm people will pay. Đây là proof-of-concept, không phải scale.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DEV → STARTUP  ·  3 RÀO CẢN LỚN NHẤT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Cái giết chết developer khi cố build startup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743200" cy="35844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274320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481328"/>
            <a:ext cx="329184" cy="329184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90195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mindset, không phải founder mindset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377440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dev đo thành công bằng code quality và feature shipped. Founder đo bằng revenue và retention. Đây là context switch khó nhất — bạn sẽ muốn refactor codebase khi thay vào đó cần gọi điện cho 10 tradies.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2004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" y="3419856"/>
            <a:ext cx="91440" cy="9144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38328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Dành &gt;70% thời gian code, &lt;30% với user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" y="3675888"/>
            <a:ext cx="91440" cy="9144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3931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mọi bug nhưng không biết NPS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3931920"/>
            <a:ext cx="91440" cy="9144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89534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"Tôi sẽ launch khi app hoàn hảo hơn"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681728"/>
            <a:ext cx="2743200" cy="292608"/>
          </a:xfrm>
          <a:prstGeom prst="rect">
            <a:avLst/>
          </a:prstGeom>
          <a:solidFill>
            <a:srgbClr val="2E6B45">
              <a:alpha val="20000"/>
            </a:srgbClr>
          </a:solidFill>
          <a:ln w="6350">
            <a:solidFill>
              <a:srgbClr val="2E6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90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mỗi ngày PHẢI có ít nhất 1 conversation với tradie trước khi code. Không exception.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389888"/>
            <a:ext cx="2743200" cy="35844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389888"/>
            <a:ext cx="274320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1481328"/>
            <a:ext cx="329184" cy="329184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190195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Sunk cost fallacy với feature yêu thích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01568" y="2377440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mất 2 tuần build Nearby Supplies feature. Nếu không ai dùng, bạn sẽ rationalize lý do giữ nó thay vì cut. Attachment với code là death sentence của startup.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01568" y="32004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01568" y="3419856"/>
            <a:ext cx="91440" cy="914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338328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feature vì 'tốn nhiều công build', không phải vì user cần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01568" y="3675888"/>
            <a:ext cx="91440" cy="914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363931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feature thay vì pitch solution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01568" y="3931920"/>
            <a:ext cx="91440" cy="914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389534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grow, không có gì bị cut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4681728"/>
            <a:ext cx="2743200" cy="292608"/>
          </a:xfrm>
          <a:prstGeom prst="rect">
            <a:avLst/>
          </a:prstGeom>
          <a:solidFill>
            <a:srgbClr val="BA7517">
              <a:alpha val="20000"/>
            </a:srgbClr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4690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nếu feature không được &gt;30% users dùng sau 2 tuần → kill it. Không negotiate.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1389888"/>
            <a:ext cx="2743200" cy="35844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1389888"/>
            <a:ext cx="2743200" cy="5486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7648" y="1481328"/>
            <a:ext cx="329184" cy="329184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27648" y="190195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arm eat product time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27648" y="2377440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project có deadline cứng, payment ngay, và hậu quả rõ ràng nếu trễ. Product work không có deadline nào. Không có wall cứng thì outsourcing luôn thắng — từng tuần một, cho đến khi nhìn lại bạn không ship gì mới trong 2 tháng.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27648" y="32004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27648" y="3419856"/>
            <a:ext cx="91440" cy="9144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38328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Postpone product sprint vì client urgent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27648" y="3675888"/>
            <a:ext cx="91440" cy="9144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3639312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"Tháng sau tôi sẽ focus vào TradieMate"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27648" y="3931920"/>
            <a:ext cx="91440" cy="9144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89534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MRR flat dù outsourcing revenue tăng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17920" y="4681728"/>
            <a:ext cx="2743200" cy="292608"/>
          </a:xfrm>
          <a:prstGeom prst="rect">
            <a:avLst/>
          </a:prstGeom>
          <a:solidFill>
            <a:srgbClr val="9333EA">
              <a:alpha val="20000"/>
            </a:srgbClr>
          </a:solidFill>
          <a:ln w="6350">
            <a:solidFill>
              <a:srgbClr val="9333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4690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Block cứng Thứ 2 + Thứ 3 + Thứ 4 sáng = TradieMate only. Không client meeting, không client code trong 3 buổi sáng đó.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TACTICS  ·  INDIE → STARTUP TRANSITION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thứ cần thay đổi về cách làm việc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8321040" cy="292608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Dev mindset (bỏ)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900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mindset (adopt)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37960" y="1389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09928"/>
            <a:ext cx="8321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37944"/>
            <a:ext cx="201168" cy="20116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28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177393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bằng features shipped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3552" y="18013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17739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bằng tradie conversations/tuần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17739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focus từ output sang outcome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221992"/>
            <a:ext cx="8321040" cy="475488"/>
          </a:xfrm>
          <a:prstGeom prst="rect">
            <a:avLst/>
          </a:prstGeom>
          <a:solidFill>
            <a:srgbClr val="F8F9F6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50008"/>
            <a:ext cx="201168" cy="20116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40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228600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khi 'ready'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73552" y="23134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2286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khi có 1 person who would pay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ngắn feedback loop từ tháng xuống ngày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734056"/>
            <a:ext cx="8321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862072"/>
            <a:ext cx="201168" cy="20116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52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" y="279806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mọi bug trước khi show user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73552" y="28254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11880" y="27980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user ngay — bugs là data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27980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 &gt; imagined bug. User tìm bug bạn không thể tìm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246120"/>
            <a:ext cx="8321040" cy="475488"/>
          </a:xfrm>
          <a:prstGeom prst="rect">
            <a:avLst/>
          </a:prstGeom>
          <a:solidFill>
            <a:srgbClr val="F8F9F6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374136"/>
            <a:ext cx="201168" cy="20116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64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" y="331012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feature vì thấy cool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73552" y="33375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11880" y="3310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feature vì 5+ users request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3796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 confirmation bias trong product decisions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3758184"/>
            <a:ext cx="8321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3886200"/>
            <a:ext cx="201168" cy="20116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" y="382219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— không ai biết plan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73552" y="38496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611880" y="38221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accountability — post weekly update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37960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lực bên ngoài giúp beat procrastination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" y="4270248"/>
            <a:ext cx="8321040" cy="475488"/>
          </a:xfrm>
          <a:prstGeom prst="rect">
            <a:avLst/>
          </a:prstGeom>
          <a:solidFill>
            <a:srgbClr val="F8F9F6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398264"/>
            <a:ext cx="201168" cy="20116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389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3232" y="433425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Outsorcing giờ nào cũng được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73552" y="43616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611880" y="43342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block cứng cho TradieMate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37960" y="4334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time = product actually moves forward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không xảy ra tự nhiên — nó cần được chọn có ý thức mỗi sáng khi mở laptop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2E6B45">
              <a:alpha val="12000"/>
            </a:srgbClr>
          </a:solidFill>
          <a:ln w="12700">
            <a:solidFill>
              <a:srgbClr val="2E6B45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7498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tháng 1 thành công, tháng 2 là gì?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1517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paying tradies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22960" y="17922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3 lên 25 — referral + Google Ads $200/mo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5856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$975 MRR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22960" y="24505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× $39 — đủ cover infra + một phần lương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1693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Reece pitch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822960" y="31089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case studies thật → tiếp cận Reece Plumbing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75304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3493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integration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822960" y="37673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 recommend → low CAC channel opens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33672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2960" y="4151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&lt;5%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822960" y="44256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churn cao hơn → tập trung fix retention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548640" y="4681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startup đều bắt đầu bằng 1 paying customer. Của TradieMate là plumber đầu tiên ở Brisbane.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TradieMate — Month 1 Launch Timeline &amp; Indie→Startup Barriers</dc:title>
  <dc:subject>PptxGenJS Presentation</dc:subject>
  <dc:creator>PptxGenJS</dc:creator>
  <cp:lastModifiedBy>PptxGenJS</cp:lastModifiedBy>
  <cp:revision>1</cp:revision>
  <dcterms:created xsi:type="dcterms:W3CDTF">2026-05-13T04:56:29Z</dcterms:created>
  <dcterms:modified xsi:type="dcterms:W3CDTF">2026-05-13T04:56:29Z</dcterms:modified>
</cp:coreProperties>
</file>