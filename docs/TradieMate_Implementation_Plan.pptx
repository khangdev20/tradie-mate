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A1A1A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A1A1A"/>
                </a:solidFill>
                <a:latin typeface="Arial"/>
              </a:rPr>
              <a:t>Monthly Recurring Revenue Growth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MRR (AUD)</c:v>
                </c:pt>
              </c:strCache>
            </c:strRef>
          </c:tx>
          <c:spPr>
            <a:solidFill>
              <a:srgbClr val="2E6B45"/>
            </a:solidFill>
            <a:ln w="31750" cap="flat">
              <a:solidFill>
                <a:srgbClr val="2E6B4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E6B45"/>
              </a:solidFill>
              <a:ln w="9525" cap="flat">
                <a:solidFill>
                  <a:srgbClr val="2E6B4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M6</c:v>
                  </c:pt>
                  <c:pt idx="1">
                    <c:v>M8</c:v>
                  </c:pt>
                  <c:pt idx="2">
                    <c:v>M10</c:v>
                  </c:pt>
                  <c:pt idx="3">
                    <c:v>M12</c:v>
                  </c:pt>
                  <c:pt idx="4">
                    <c:v>M14</c:v>
                  </c:pt>
                  <c:pt idx="5">
                    <c:v>M18</c:v>
                  </c:pt>
                  <c:pt idx="6">
                    <c:v>M20</c:v>
                  </c:pt>
                  <c:pt idx="7">
                    <c:v>M24</c:v>
                  </c:pt>
                  <c:pt idx="8">
                    <c:v>M27</c:v>
                  </c:pt>
                  <c:pt idx="9">
                    <c:v>M30</c:v>
                  </c:pt>
                  <c:pt idx="10">
                    <c:v>M33</c:v>
                  </c:pt>
                  <c:pt idx="11">
                    <c:v>M36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</c:v>
                </c:pt>
                <c:pt idx="1">
                  <c:v>390</c:v>
                </c:pt>
                <c:pt idx="2">
                  <c:v>1950</c:v>
                </c:pt>
                <c:pt idx="3">
                  <c:v>7800</c:v>
                </c:pt>
                <c:pt idx="4">
                  <c:v>13650</c:v>
                </c:pt>
                <c:pt idx="5">
                  <c:v>19500</c:v>
                </c:pt>
                <c:pt idx="6">
                  <c:v>35000</c:v>
                </c:pt>
                <c:pt idx="7">
                  <c:v>78000</c:v>
                </c:pt>
                <c:pt idx="8">
                  <c:v>120000</c:v>
                </c:pt>
                <c:pt idx="9">
                  <c:v>195000</c:v>
                </c:pt>
                <c:pt idx="10">
                  <c:v>260000</c:v>
                </c:pt>
                <c:pt idx="11">
                  <c:v>350000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594360"/>
            <a:ext cx="6858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TradieMate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457200" y="132588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Plan  ·  4 Phases  ·  36 Months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457200" y="2011680"/>
            <a:ext cx="1755648" cy="59436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0352" y="2048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30352" y="2286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30352" y="2651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M1–M8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286000" y="2011680"/>
            <a:ext cx="2212848" cy="59436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359152" y="2048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2359152" y="2286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2359152" y="2651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M9–M18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572000" y="2011680"/>
            <a:ext cx="2212848" cy="59436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645152" y="2048256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645152" y="228600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4645152" y="2651760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M19–M30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858000" y="2011680"/>
            <a:ext cx="1755648" cy="59436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931152" y="2048256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931152" y="228600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6931152" y="265176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M31–M36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57200" y="30632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457200" y="3383280"/>
            <a:ext cx="347472" cy="347472"/>
          </a:xfrm>
          <a:prstGeom prst="ellipse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5720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274320" y="37947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launch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tradies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664208" y="3383280"/>
            <a:ext cx="347472" cy="347472"/>
          </a:xfrm>
          <a:prstGeom prst="ellipse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664208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M8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481328" y="37947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paying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tradies</a:t>
            </a:r>
            <a:endParaRPr lang="en-US" sz="900" dirty="0"/>
          </a:p>
        </p:txBody>
      </p:sp>
      <p:sp>
        <p:nvSpPr>
          <p:cNvPr id="29" name="Shape 26"/>
          <p:cNvSpPr/>
          <p:nvPr/>
        </p:nvSpPr>
        <p:spPr>
          <a:xfrm>
            <a:off x="2871216" y="3383280"/>
            <a:ext cx="347472" cy="34747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871216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M14</a:t>
            </a:r>
            <a:endParaRPr lang="en-US" sz="900" dirty="0"/>
          </a:p>
        </p:txBody>
      </p:sp>
      <p:sp>
        <p:nvSpPr>
          <p:cNvPr id="31" name="Text 28"/>
          <p:cNvSpPr/>
          <p:nvPr/>
        </p:nvSpPr>
        <p:spPr>
          <a:xfrm>
            <a:off x="2688336" y="37947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350 tradies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>
            <a:off x="4078224" y="3383280"/>
            <a:ext cx="347472" cy="347472"/>
          </a:xfrm>
          <a:prstGeom prst="ellipse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4078224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M18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3895344" y="37947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paying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5285232" y="3383280"/>
            <a:ext cx="347472" cy="34747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5285232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M24</a:t>
            </a:r>
            <a:endParaRPr lang="en-US" sz="900" dirty="0"/>
          </a:p>
        </p:txBody>
      </p:sp>
      <p:sp>
        <p:nvSpPr>
          <p:cNvPr id="37" name="Text 34"/>
          <p:cNvSpPr/>
          <p:nvPr/>
        </p:nvSpPr>
        <p:spPr>
          <a:xfrm>
            <a:off x="5102352" y="37947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tradies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$1M ARR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92240" y="3383280"/>
            <a:ext cx="347472" cy="347472"/>
          </a:xfrm>
          <a:prstGeom prst="ellipse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92240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M30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6309360" y="37947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tradies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 ARR</a:t>
            </a:r>
            <a:endParaRPr lang="en-US" sz="900" dirty="0"/>
          </a:p>
        </p:txBody>
      </p:sp>
      <p:sp>
        <p:nvSpPr>
          <p:cNvPr id="41" name="Shape 38"/>
          <p:cNvSpPr/>
          <p:nvPr/>
        </p:nvSpPr>
        <p:spPr>
          <a:xfrm>
            <a:off x="7699248" y="3383280"/>
            <a:ext cx="347472" cy="347472"/>
          </a:xfrm>
          <a:prstGeom prst="ellipse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699248" y="33832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M36</a:t>
            </a:r>
            <a:endParaRPr lang="en-US" sz="900" dirty="0"/>
          </a:p>
        </p:txBody>
      </p:sp>
      <p:sp>
        <p:nvSpPr>
          <p:cNvPr id="43" name="Text 40"/>
          <p:cNvSpPr/>
          <p:nvPr/>
        </p:nvSpPr>
        <p:spPr>
          <a:xfrm>
            <a:off x="7516368" y="3794760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expansion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MONTH 1–8  ·  BUILD MVP + SEED 50 TRADIES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Build &amp; Seed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44168"/>
            <a:ext cx="1463040" cy="292608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1463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$10–25K investment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28800"/>
            <a:ext cx="20116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28800"/>
            <a:ext cx="2011680" cy="5029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1984248"/>
            <a:ext cx="329184" cy="32918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" y="24231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MVP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75488" y="2816352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core screens: Dashboard · Job Detail · Invoice · Notifications. End-to-end flow working.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2514600" y="1828800"/>
            <a:ext cx="20116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514600" y="1828800"/>
            <a:ext cx="2011680" cy="5029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616" y="1984248"/>
            <a:ext cx="329184" cy="3291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24328" y="24231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Beta Tradies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24328" y="2816352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Brisbane plumbers first. Manual onboarding via phone. No credit card required.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663440" y="1828800"/>
            <a:ext cx="20116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4663440" y="1828800"/>
            <a:ext cx="2011680" cy="5029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1456" y="1984248"/>
            <a:ext cx="329184" cy="329184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773168" y="24231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$39 Payment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773168" y="2816352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least 1 tradie converts to paid plan. Validate willingness to pay before scaling.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812280" y="1828800"/>
            <a:ext cx="2011680" cy="26974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812280" y="1828800"/>
            <a:ext cx="2011680" cy="50292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1984248"/>
            <a:ext cx="329184" cy="32918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22008" y="2423160"/>
            <a:ext cx="1783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Product-Market Fit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22008" y="2816352"/>
            <a:ext cx="1783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3+ invoices/week per tradie. Churn &lt;8%/month. NPS &gt;30 from beta users.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EAF3DE"/>
          </a:solidFill>
          <a:ln w="12700">
            <a:solidFill>
              <a:srgbClr val="C0DD97"/>
            </a:solidFill>
            <a:prstDash val="solid"/>
          </a:ln>
        </p:spPr>
      </p:sp>
      <p:sp>
        <p:nvSpPr>
          <p:cNvPr id="28" name="Text 22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Success = 10 tradies using app daily · 3+ invoices/week each · 1 paying customer · zero data loss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WEEK-BY-WEEK IMPLEMENTATION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8-Week Build Schedule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W1–2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408176"/>
            <a:ext cx="2209190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408176"/>
            <a:ext cx="2209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setup + schema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717950" y="1408176"/>
            <a:ext cx="1620317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17950" y="1408176"/>
            <a:ext cx="16203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(Phone OTP)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29707" y="1408176"/>
            <a:ext cx="1452067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29707" y="1408176"/>
            <a:ext cx="145206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ABN verify API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73214" y="1408176"/>
            <a:ext cx="2293315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3214" y="1408176"/>
            <a:ext cx="2293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 init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792224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79222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W3–4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1828800"/>
            <a:ext cx="1620317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1828800"/>
            <a:ext cx="16203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screen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29077" y="1828800"/>
            <a:ext cx="1704442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29077" y="1828800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Detail screen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924958" y="1828800"/>
            <a:ext cx="1367942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924958" y="1828800"/>
            <a:ext cx="13679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Jobs CRUD API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384341" y="1828800"/>
            <a:ext cx="2040941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84341" y="1828800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offline sync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8516722" y="1828800"/>
            <a:ext cx="2125066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16722" y="1828800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notifications FCM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65760" y="2212848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21284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W5–6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2249424"/>
            <a:ext cx="1788566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417320" y="2249424"/>
            <a:ext cx="1788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builder UI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97326" y="2249424"/>
            <a:ext cx="1872691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297326" y="2249424"/>
            <a:ext cx="18726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GST auto-calc logic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261458" y="2249424"/>
            <a:ext cx="1704442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261458" y="2249424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Tap to Pay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057339" y="2249424"/>
            <a:ext cx="2040941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057339" y="2249424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signature pad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2633472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6334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W7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1417320" y="2670048"/>
            <a:ext cx="1872691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17320" y="2670048"/>
            <a:ext cx="18726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 upload flow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381451" y="2670048"/>
            <a:ext cx="1704442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381451" y="2670048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 expiry alerts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5177333" y="2670048"/>
            <a:ext cx="2125066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77333" y="2670048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integration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7393838" y="2670048"/>
            <a:ext cx="1872691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393838" y="2670048"/>
            <a:ext cx="18726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centre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65760" y="3054096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65760" y="305409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W8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1417320" y="3090672"/>
            <a:ext cx="1788566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417320" y="3090672"/>
            <a:ext cx="1788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fixes + polish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3297326" y="3090672"/>
            <a:ext cx="2125066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297326" y="3090672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TestFlight / Play beta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5513832" y="3090672"/>
            <a:ext cx="2125066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13832" y="3090672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5 beta tradies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30338" y="3090672"/>
            <a:ext cx="2040941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30338" y="3090672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licence review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65760" y="4480560"/>
            <a:ext cx="841248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535424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Legend: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188720" y="4553712"/>
            <a:ext cx="1554480" cy="228600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188720" y="4553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feature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3017520" y="4553712"/>
            <a:ext cx="1554480" cy="228600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0" y="4553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infra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846320" y="4553712"/>
            <a:ext cx="1554480" cy="22860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846320" y="4553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675120" y="4553712"/>
            <a:ext cx="1554480" cy="228600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75120" y="45537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 / Launch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 ·  TECH DECISIONS + GO-TO-MARKET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Choices  &amp;  First 50 Tradies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1148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1664208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664208"/>
            <a:ext cx="50292" cy="47548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16916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66928" y="18928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Expo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468880" y="17373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· AI-assisted with Cursor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212848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12848"/>
            <a:ext cx="50292" cy="47548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224028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66928" y="24414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PostgreSQL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468880" y="22860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ACID · PgBouncer built-in · Sydney region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1480" y="2761488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761488"/>
            <a:ext cx="50292" cy="47548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278892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66928" y="299008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Phone OTP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468880" y="283464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Tradies use phone, not email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11480" y="3310128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310128"/>
            <a:ext cx="50292" cy="47548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33375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Realtime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66928" y="35387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468880" y="33832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Offline persistence + GPS sync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11480" y="3858768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3858768"/>
            <a:ext cx="50292" cy="47548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8862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566928" y="408736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Tap to Pay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468880" y="393192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 AU cards · no hardware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11480" y="4407408"/>
            <a:ext cx="402336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11480" y="4407408"/>
            <a:ext cx="50292" cy="47548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" y="443484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66928" y="46360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Railway.app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468880" y="448056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deploys · migrate AWS at 10K users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754880" y="13258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ACQUIRING FIRST 50 TRADIES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754880" y="166420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754880" y="1664208"/>
            <a:ext cx="50292" cy="74980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3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1847088"/>
            <a:ext cx="274320" cy="274320"/>
          </a:xfrm>
          <a:prstGeom prst="rect">
            <a:avLst/>
          </a:prstGeom>
        </p:spPr>
      </p:pic>
      <p:sp>
        <p:nvSpPr>
          <p:cNvPr id="40" name="Text 37"/>
          <p:cNvSpPr/>
          <p:nvPr/>
        </p:nvSpPr>
        <p:spPr>
          <a:xfrm>
            <a:off x="5230368" y="172821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them physically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5230368" y="201168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Bunnings, Reece Plumbing, trade supplier carparks in Brisbane. Meet tradies where they are — not online.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754880" y="248716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4754880" y="2487168"/>
            <a:ext cx="50292" cy="74980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4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2670048"/>
            <a:ext cx="274320" cy="274320"/>
          </a:xfrm>
          <a:prstGeom prst="rect">
            <a:avLst/>
          </a:prstGeom>
        </p:spPr>
      </p:pic>
      <p:sp>
        <p:nvSpPr>
          <p:cNvPr id="45" name="Text 41"/>
          <p:cNvSpPr/>
          <p:nvPr/>
        </p:nvSpPr>
        <p:spPr>
          <a:xfrm>
            <a:off x="5230368" y="255117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Groups</a:t>
            </a:r>
            <a:endParaRPr lang="en-US" sz="1200" dirty="0"/>
          </a:p>
        </p:txBody>
      </p:sp>
      <p:sp>
        <p:nvSpPr>
          <p:cNvPr id="46" name="Text 42"/>
          <p:cNvSpPr/>
          <p:nvPr/>
        </p:nvSpPr>
        <p:spPr>
          <a:xfrm>
            <a:off x="5230368" y="283464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Aussie Tradies · Plumbers Network AU. Post problem/solution story — not promo. Engage genuinely.</a:t>
            </a:r>
            <a:endParaRPr lang="en-US" sz="1000" dirty="0"/>
          </a:p>
        </p:txBody>
      </p:sp>
      <p:sp>
        <p:nvSpPr>
          <p:cNvPr id="47" name="Shape 43"/>
          <p:cNvSpPr/>
          <p:nvPr/>
        </p:nvSpPr>
        <p:spPr>
          <a:xfrm>
            <a:off x="4754880" y="331012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4754880" y="3310128"/>
            <a:ext cx="50292" cy="74980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4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3493008"/>
            <a:ext cx="274320" cy="274320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5230368" y="337413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3-month trial</a:t>
            </a:r>
            <a:endParaRPr lang="en-US" sz="1200" dirty="0"/>
          </a:p>
        </p:txBody>
      </p:sp>
      <p:sp>
        <p:nvSpPr>
          <p:cNvPr id="51" name="Text 46"/>
          <p:cNvSpPr/>
          <p:nvPr/>
        </p:nvSpPr>
        <p:spPr>
          <a:xfrm>
            <a:off x="5230368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credit card. Manual onboarding via 15-min phone call. Goal: get them to create 1 invoice in day 1.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4754880" y="4133088"/>
            <a:ext cx="402336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4754880" y="4133088"/>
            <a:ext cx="50292" cy="749808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pic>
        <p:nvPicPr>
          <p:cNvPr id="5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4608" y="4315968"/>
            <a:ext cx="274320" cy="274320"/>
          </a:xfrm>
          <a:prstGeom prst="rect">
            <a:avLst/>
          </a:prstGeom>
        </p:spPr>
      </p:pic>
      <p:sp>
        <p:nvSpPr>
          <p:cNvPr id="55" name="Text 49"/>
          <p:cNvSpPr/>
          <p:nvPr/>
        </p:nvSpPr>
        <p:spPr>
          <a:xfrm>
            <a:off x="5230368" y="4197096"/>
            <a:ext cx="3429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suburb, 1 trade</a:t>
            </a:r>
            <a:endParaRPr lang="en-US" sz="1200" dirty="0"/>
          </a:p>
        </p:txBody>
      </p:sp>
      <p:sp>
        <p:nvSpPr>
          <p:cNvPr id="56" name="Text 50"/>
          <p:cNvSpPr/>
          <p:nvPr/>
        </p:nvSpPr>
        <p:spPr>
          <a:xfrm>
            <a:off x="5230368" y="44805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Brisbane plumbers ONLY in M1–3. Density creates word of mouth. Spreading thin = zero momentum.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MONTH 9–18  ·  TRACTION + BREAKEVEN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Traction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44168"/>
            <a:ext cx="2011680" cy="292608"/>
          </a:xfrm>
          <a:prstGeom prst="rect">
            <a:avLst/>
          </a:prstGeom>
          <a:solidFill>
            <a:srgbClr val="E6F1FB"/>
          </a:solidFill>
          <a:ln w="12700">
            <a:solidFill>
              <a:srgbClr val="B5D4F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500 paying tradies · Breakeven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7830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FEATURES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121408"/>
            <a:ext cx="3977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121408"/>
            <a:ext cx="3977640" cy="5029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286000"/>
            <a:ext cx="292608" cy="29260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96112" y="22128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Live Tracking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6112" y="2523744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Uber-style ETA. Tradie taps 'Slide to Start' → customer gets live map link via SMS.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572000" y="2121408"/>
            <a:ext cx="3977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572000" y="2121408"/>
            <a:ext cx="3977640" cy="5029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0016" y="2286000"/>
            <a:ext cx="292608" cy="292608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102352" y="2212848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Supplies Finder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102352" y="2523744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Bunnings, Reece, Tradelink near job site. Google Places API. Supplier sponsorship ready.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365760" y="3200400"/>
            <a:ext cx="3977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200400"/>
            <a:ext cx="3977640" cy="5029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364992"/>
            <a:ext cx="292608" cy="29260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96112" y="329184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Integration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96112" y="3602736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auto-sync to Xero. BAS-ready. Unlock Xero Marketplace listing.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4572000" y="3200400"/>
            <a:ext cx="39776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572000" y="3200400"/>
            <a:ext cx="3977640" cy="50292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0016" y="3364992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5102352" y="3291840"/>
            <a:ext cx="3310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+ Profile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5102352" y="3602736"/>
            <a:ext cx="33101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tradie profile. Licence verified badge. Customer trust signal.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411480" y="4315968"/>
            <a:ext cx="8321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000" dirty="0"/>
          </a:p>
        </p:txBody>
      </p:sp>
      <p:sp>
        <p:nvSpPr>
          <p:cNvPr id="29" name="Shape 23"/>
          <p:cNvSpPr/>
          <p:nvPr/>
        </p:nvSpPr>
        <p:spPr>
          <a:xfrm>
            <a:off x="365760" y="4590288"/>
            <a:ext cx="2011680" cy="41148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457200" y="4590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Referral: Refer 1 tradie → 1 free month</a:t>
            </a:r>
            <a:endParaRPr lang="en-US" sz="1000" dirty="0"/>
          </a:p>
        </p:txBody>
      </p:sp>
      <p:sp>
        <p:nvSpPr>
          <p:cNvPr id="31" name="Shape 25"/>
          <p:cNvSpPr/>
          <p:nvPr/>
        </p:nvSpPr>
        <p:spPr>
          <a:xfrm>
            <a:off x="2514600" y="4590288"/>
            <a:ext cx="2011680" cy="41148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2606040" y="4590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Ads: intent keywords AU</a:t>
            </a:r>
            <a:endParaRPr lang="en-US" sz="1000" dirty="0"/>
          </a:p>
        </p:txBody>
      </p:sp>
      <p:sp>
        <p:nvSpPr>
          <p:cNvPr id="33" name="Shape 27"/>
          <p:cNvSpPr/>
          <p:nvPr/>
        </p:nvSpPr>
        <p:spPr>
          <a:xfrm>
            <a:off x="4663440" y="4590288"/>
            <a:ext cx="2011680" cy="41148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4" name="Text 28"/>
          <p:cNvSpPr/>
          <p:nvPr/>
        </p:nvSpPr>
        <p:spPr>
          <a:xfrm>
            <a:off x="4754880" y="4590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Plumbers AU partnership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6812280" y="4590288"/>
            <a:ext cx="2011680" cy="411480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6" name="Text 30"/>
          <p:cNvSpPr/>
          <p:nvPr/>
        </p:nvSpPr>
        <p:spPr>
          <a:xfrm>
            <a:off x="6903720" y="459028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TikTok/YouTube: day-in-life content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 ·  SPRINT PLAN  M9–M18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10-Month Build &amp; Growth Schedule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M9–10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408176"/>
            <a:ext cx="2040941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408176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tracking API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49701" y="1408176"/>
            <a:ext cx="1704442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9701" y="1408176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to Start UX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345582" y="1408176"/>
            <a:ext cx="2293315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45582" y="1408176"/>
            <a:ext cx="2293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map customer screen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7730338" y="1408176"/>
            <a:ext cx="1956816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30338" y="1408176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Twilio SMS ETA alert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801368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013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M11–12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1837944"/>
            <a:ext cx="2125066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1837944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OAuth integration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33826" y="1837944"/>
            <a:ext cx="1956816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33826" y="1837944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sync to Xero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5682082" y="1837944"/>
            <a:ext cx="2125066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682082" y="1837944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Marketplace apply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898587" y="1837944"/>
            <a:ext cx="1704442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898587" y="1837944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BAS-ready reports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231136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311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M13–14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17320" y="2267712"/>
            <a:ext cx="2377440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22677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Nearby Supplies (Places API)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886200" y="2267712"/>
            <a:ext cx="2293315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86200" y="2267712"/>
            <a:ext cx="2293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filter by trade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70955" y="2267712"/>
            <a:ext cx="1956816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70955" y="2267712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Reece/Bunnings pitch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319211" y="2267712"/>
            <a:ext cx="1704442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319211" y="2267712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launch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2660904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6609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M15–16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17320" y="2697480"/>
            <a:ext cx="2040941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2697480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tradie profile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49701" y="2697480"/>
            <a:ext cx="2040941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549701" y="2697480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badge system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82082" y="2697480"/>
            <a:ext cx="1704442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2082" y="2697480"/>
            <a:ext cx="17044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ratings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477963" y="2697480"/>
            <a:ext cx="2040941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477963" y="2697480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program live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090672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0906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M17–18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417320" y="3127248"/>
            <a:ext cx="2293315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17320" y="3127248"/>
            <a:ext cx="2293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optimisation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802075" y="3127248"/>
            <a:ext cx="1367942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02075" y="3127248"/>
            <a:ext cx="136794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add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261458" y="3127248"/>
            <a:ext cx="1620317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261458" y="3127248"/>
            <a:ext cx="16203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batch writes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973214" y="3127248"/>
            <a:ext cx="2377440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73214" y="312724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 prep ($500K ARR)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657600"/>
            <a:ext cx="8412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74904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KPIs TO TRACK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800" dirty="0"/>
          </a:p>
        </p:txBody>
      </p:sp>
      <p:sp>
        <p:nvSpPr>
          <p:cNvPr id="58" name="Text 56"/>
          <p:cNvSpPr/>
          <p:nvPr/>
        </p:nvSpPr>
        <p:spPr>
          <a:xfrm>
            <a:off x="548640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tradies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548640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M18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1938528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$19,500</a:t>
            </a:r>
            <a:endParaRPr lang="en-US" sz="1800" dirty="0"/>
          </a:p>
        </p:txBody>
      </p:sp>
      <p:sp>
        <p:nvSpPr>
          <p:cNvPr id="61" name="Text 59"/>
          <p:cNvSpPr/>
          <p:nvPr/>
        </p:nvSpPr>
        <p:spPr>
          <a:xfrm>
            <a:off x="1938528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1938528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M18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28416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&lt;5%</a:t>
            </a:r>
            <a:endParaRPr lang="en-US" sz="1800" dirty="0"/>
          </a:p>
        </p:txBody>
      </p:sp>
      <p:sp>
        <p:nvSpPr>
          <p:cNvPr id="64" name="Text 62"/>
          <p:cNvSpPr/>
          <p:nvPr/>
        </p:nvSpPr>
        <p:spPr>
          <a:xfrm>
            <a:off x="3328416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churn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328416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4718304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$50–80</a:t>
            </a:r>
            <a:endParaRPr lang="en-US" sz="1800" dirty="0"/>
          </a:p>
        </p:txBody>
      </p:sp>
      <p:sp>
        <p:nvSpPr>
          <p:cNvPr id="67" name="Text 65"/>
          <p:cNvSpPr/>
          <p:nvPr/>
        </p:nvSpPr>
        <p:spPr>
          <a:xfrm>
            <a:off x="4718304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4718304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blended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6108192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&gt;60%</a:t>
            </a:r>
            <a:endParaRPr lang="en-US" sz="1800" dirty="0"/>
          </a:p>
        </p:txBody>
      </p:sp>
      <p:sp>
        <p:nvSpPr>
          <p:cNvPr id="70" name="Text 68"/>
          <p:cNvSpPr/>
          <p:nvPr/>
        </p:nvSpPr>
        <p:spPr>
          <a:xfrm>
            <a:off x="6108192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users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108192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subscribers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7498080" y="4041648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&gt;25%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7498080" y="442569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Referral rate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7498080" y="46268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8E6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signups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MONTH 19–30  ·  SCALE TO 5,000 TRADIES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3: Scale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44168"/>
            <a:ext cx="2194560" cy="292608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raised · Team hired · National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4114800" cy="502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14884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86868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Marketplace launch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868680" y="22768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Listed as featured app. Accountants recommend TradieMate to tradie clients. CAC ~$0 from this channel.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63440" y="1874520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1874520"/>
            <a:ext cx="4114800" cy="502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14884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166360" y="196596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Dashboard V2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166360" y="2276856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Per-tradie analytics, tax summaries, BAS export. Reduces churn by giving tradie their own accountant view.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365760" y="2862072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65760" y="2862072"/>
            <a:ext cx="4114800" cy="502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" y="313639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68680" y="2953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Reece + Bunnings partnership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68680" y="32644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sponsorship live. Featured store placement $2–5K/month per region. Revenue stream #2 active.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4663440" y="2862072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4663440" y="2862072"/>
            <a:ext cx="4114800" cy="502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1456" y="313639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66360" y="29535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scale: PgBouncer + Redis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166360" y="32644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Connection pooler + job queue for Xero async. GPS batching. Handle 2K concurrent users smoothly.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65760" y="3849624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65760" y="3849624"/>
            <a:ext cx="4114800" cy="502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3776" y="4123944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86868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Group/Employer plan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868680" y="42519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 manages 3–5 tradies at $99–149/mo. 3–5x ARPU. Target: 15% of user base on group plan.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4663440" y="3849624"/>
            <a:ext cx="4114800" cy="89611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663440" y="3849624"/>
            <a:ext cx="4114800" cy="50292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1456" y="4123944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5166360" y="394106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+ case studies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5166360" y="4251960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'Jake saved $8K/year using TradieMate'. Target: The Australian, Sky News Trade segment, industry journals.</a:t>
            </a:r>
            <a:endParaRPr lang="en-US" sz="1000" dirty="0"/>
          </a:p>
        </p:txBody>
      </p:sp>
      <p:sp>
        <p:nvSpPr>
          <p:cNvPr id="37" name="Shape 29"/>
          <p:cNvSpPr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38" name="Text 30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5,000 tradies · $2.3M ARR · 15% on Group plan · Supplier sponsorship $60K+/yr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 ·  SPRINT PLAN  M19–M30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12-Month Scale Schedule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71600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371600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M19–20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417320" y="1408176"/>
            <a:ext cx="1788566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17320" y="1408176"/>
            <a:ext cx="1788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1 mobile dev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7326" y="1408176"/>
            <a:ext cx="1872691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7326" y="1408176"/>
            <a:ext cx="18726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Hire: 1 GTM / sales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261458" y="1408176"/>
            <a:ext cx="1620317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61458" y="1408176"/>
            <a:ext cx="1620317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plan build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973214" y="1408176"/>
            <a:ext cx="2125066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73214" y="1408176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Multi-tradie dashboard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65760" y="1801368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801368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M21–22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17320" y="1837944"/>
            <a:ext cx="2209190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17320" y="1837944"/>
            <a:ext cx="2209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Marketplace submit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717950" y="1837944"/>
            <a:ext cx="2293315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717950" y="1837944"/>
            <a:ext cx="2293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Accountant outreach (50)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102706" y="1837944"/>
            <a:ext cx="2125066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02706" y="1837944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Reece sponsorship deal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319211" y="1837944"/>
            <a:ext cx="2209190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19211" y="1837944"/>
            <a:ext cx="2209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placement live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231136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2231136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M23–24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1417320" y="2267712"/>
            <a:ext cx="2040941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417320" y="2267712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Earnings Dashboard V2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49701" y="2267712"/>
            <a:ext cx="2293315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549701" y="2267712"/>
            <a:ext cx="2293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 export / tax summary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934456" y="2267712"/>
            <a:ext cx="2209190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34456" y="2267712"/>
            <a:ext cx="2209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PgBouncer + Redis infra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8235086" y="2267712"/>
            <a:ext cx="1788566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35086" y="2267712"/>
            <a:ext cx="17885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GPS batch optimise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2660904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2660904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M25–27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1417320" y="2697480"/>
            <a:ext cx="2377440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417320" y="2697480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Expand: Melbourne + Sydney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886200" y="2697480"/>
            <a:ext cx="2293315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886200" y="2697480"/>
            <a:ext cx="2293315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Bunnings Power Pass link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70955" y="2697480"/>
            <a:ext cx="2125066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70955" y="2697480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push — case studies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8487461" y="2697480"/>
            <a:ext cx="2125066" cy="256032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87461" y="2697480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5-star review campaign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65760" y="3090672"/>
            <a:ext cx="960120" cy="329184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3090672"/>
            <a:ext cx="960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M28–30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1417320" y="3127248"/>
            <a:ext cx="1956816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17320" y="3127248"/>
            <a:ext cx="19568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Scheduling module V1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465576" y="3127248"/>
            <a:ext cx="2040941" cy="256032"/>
          </a:xfrm>
          <a:prstGeom prst="rect">
            <a:avLst/>
          </a:prstGeom>
          <a:solidFill>
            <a:srgbClr val="E6F1FB"/>
          </a:solidFill>
          <a:ln w="6350">
            <a:solidFill>
              <a:srgbClr val="B5D4F4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465576" y="3127248"/>
            <a:ext cx="20409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Square payment option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597957" y="3127248"/>
            <a:ext cx="2209190" cy="256032"/>
          </a:xfrm>
          <a:prstGeom prst="rect">
            <a:avLst/>
          </a:prstGeom>
          <a:solidFill>
            <a:srgbClr val="FFF3DC"/>
          </a:solidFill>
          <a:ln w="6350">
            <a:solidFill>
              <a:srgbClr val="FAC77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597957" y="3127248"/>
            <a:ext cx="22091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prep materials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898587" y="3127248"/>
            <a:ext cx="2125066" cy="256032"/>
          </a:xfrm>
          <a:prstGeom prst="rect">
            <a:avLst/>
          </a:prstGeom>
          <a:solidFill>
            <a:srgbClr val="EAF3DE"/>
          </a:solidFill>
          <a:ln w="6350">
            <a:solidFill>
              <a:srgbClr val="C0DD9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898587" y="3127248"/>
            <a:ext cx="212506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F3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tradie milestone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365760" y="3675888"/>
            <a:ext cx="8412480" cy="137160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48640" y="37673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GROWTH IN PHASE 3</a:t>
            </a:r>
            <a:endParaRPr lang="en-US" sz="1000" dirty="0"/>
          </a:p>
        </p:txBody>
      </p:sp>
      <p:sp>
        <p:nvSpPr>
          <p:cNvPr id="57" name="Text 55"/>
          <p:cNvSpPr/>
          <p:nvPr/>
        </p:nvSpPr>
        <p:spPr>
          <a:xfrm>
            <a:off x="548640" y="4078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 / Tech Lead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40080" y="4370832"/>
            <a:ext cx="1371600" cy="219456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40080" y="4370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48640" y="4626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Continues building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212848" y="4078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/ GTM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2304288" y="4370832"/>
            <a:ext cx="1371600" cy="219456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304288" y="4370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2212848" y="4626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+ partnerships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3877056" y="4078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Developer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968496" y="4370832"/>
            <a:ext cx="1371600" cy="219456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3968496" y="4370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M19</a:t>
            </a:r>
            <a:endParaRPr lang="en-US" sz="900" dirty="0"/>
          </a:p>
        </p:txBody>
      </p:sp>
      <p:sp>
        <p:nvSpPr>
          <p:cNvPr id="68" name="Text 66"/>
          <p:cNvSpPr/>
          <p:nvPr/>
        </p:nvSpPr>
        <p:spPr>
          <a:xfrm>
            <a:off x="3877056" y="4626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+ Android speed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5541264" y="4078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GTM / Growth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5632704" y="4370832"/>
            <a:ext cx="1371600" cy="219456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5632704" y="4370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M19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5541264" y="4626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Ads + content + BD</a:t>
            </a:r>
            <a:endParaRPr lang="en-US" sz="900" dirty="0"/>
          </a:p>
        </p:txBody>
      </p:sp>
      <p:sp>
        <p:nvSpPr>
          <p:cNvPr id="73" name="Text 71"/>
          <p:cNvSpPr/>
          <p:nvPr/>
        </p:nvSpPr>
        <p:spPr>
          <a:xfrm>
            <a:off x="7205472" y="407822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Success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296912" y="4370832"/>
            <a:ext cx="1371600" cy="219456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296912" y="4370832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Hire M25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7205472" y="4626864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+ churn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 ·  MONTH 31–36  ·  EXPAND + SERIES 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4: Expand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44168"/>
            <a:ext cx="2286000" cy="292608"/>
          </a:xfrm>
          <a:prstGeom prst="rect">
            <a:avLst/>
          </a:prstGeom>
          <a:solidFill>
            <a:srgbClr val="F3E8FF"/>
          </a:solidFill>
          <a:ln w="12700">
            <a:solidFill>
              <a:srgbClr val="D8B4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34416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· UK · Series A raise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65760" y="1874520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65760" y="1874520"/>
            <a:ext cx="2743200" cy="502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" y="2011680"/>
            <a:ext cx="274320" cy="27432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75488" y="237744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Zealand launch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" y="26974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NZ market is near-identical — same laws (GST 15%), Xero penetration 70%+, English language. 6-week localisation sprint.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291840" y="1874520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91840" y="1874520"/>
            <a:ext cx="2743200" cy="502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9856" y="2011680"/>
            <a:ext cx="274320" cy="2743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01568" y="237744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multi-tradie V2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3401568" y="26974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 view: all crew jobs, earnings, scheduling. Upsell from Solo ($39) to Business ($149+). Target 20% of base.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217920" y="1874520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874520"/>
            <a:ext cx="2743200" cy="502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45936" y="201168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27648" y="237744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Series A raise — $2–3M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6327648" y="26974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8,000+ tradies, $3M ARR, and 2 markets — Series A is the logical next step. Use for UK expansion and enterprise sales.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365760" y="3246120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365760" y="3246120"/>
            <a:ext cx="2743200" cy="502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776" y="338328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75488" y="374904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 market exploration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475488" y="40690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language, similar trade compliance (CIS, VAT), high Xero penetration. Start with 1 city pilot (London plumbers).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3291840" y="3246120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291840" y="3246120"/>
            <a:ext cx="2743200" cy="502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19856" y="3383280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401568" y="374904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+ insurance bundle</a:t>
            </a:r>
            <a:endParaRPr lang="en-US" sz="1200" dirty="0"/>
          </a:p>
        </p:txBody>
      </p:sp>
      <p:sp>
        <p:nvSpPr>
          <p:cNvPr id="31" name="Text 24"/>
          <p:cNvSpPr/>
          <p:nvPr/>
        </p:nvSpPr>
        <p:spPr>
          <a:xfrm>
            <a:off x="3401568" y="40690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QBE or Allianz for bundled trade insurance. Tradie gets discount through app — sticky, high LTV segment.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6217920" y="3246120"/>
            <a:ext cx="274320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217920" y="3246120"/>
            <a:ext cx="2743200" cy="50292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45936" y="3383280"/>
            <a:ext cx="274320" cy="27432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327648" y="3749040"/>
            <a:ext cx="250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In-app parts ordering</a:t>
            </a:r>
            <a:endParaRPr lang="en-US" sz="1200" dirty="0"/>
          </a:p>
        </p:txBody>
      </p:sp>
      <p:sp>
        <p:nvSpPr>
          <p:cNvPr id="36" name="Text 28"/>
          <p:cNvSpPr/>
          <p:nvPr/>
        </p:nvSpPr>
        <p:spPr>
          <a:xfrm>
            <a:off x="6327648" y="40690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 orders parts directly from Reece/Bunnings through app → pickup at store or delivery to job site. 3–8% margin per order.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SUMMARY  ·  ALL 4 PHASES  ·  36 MONTHS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&amp; Investment by Phase</a:t>
            </a:r>
            <a:endParaRPr lang="en-US" sz="2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365760" y="1325880"/>
          <a:ext cx="5486400" cy="2606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035040" y="1325880"/>
            <a:ext cx="2743200" cy="26060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080760" y="1371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6739128" y="1371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7397496" y="1371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Tradies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8055864" y="137160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080760" y="1600200"/>
            <a:ext cx="2651760" cy="18288"/>
          </a:xfrm>
          <a:prstGeom prst="rect">
            <a:avLst/>
          </a:prstGeom>
          <a:solidFill>
            <a:srgbClr val="E8E6E0"/>
          </a:solidFill>
          <a:ln w="12700">
            <a:solidFill>
              <a:srgbClr val="E8E6E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035040" y="1664208"/>
            <a:ext cx="50292" cy="4572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108192" y="17007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6766560" y="17007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$10–25K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7424928" y="1700784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8083296" y="1700784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$1.9K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035040" y="2176272"/>
            <a:ext cx="50292" cy="457200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08192" y="22128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766560" y="22128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$250K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24928" y="2212848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083296" y="2212848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$19.5K</a:t>
            </a:r>
            <a:endParaRPr lang="en-US" sz="1000" dirty="0"/>
          </a:p>
        </p:txBody>
      </p:sp>
      <p:sp>
        <p:nvSpPr>
          <p:cNvPr id="22" name="Shape 19"/>
          <p:cNvSpPr/>
          <p:nvPr/>
        </p:nvSpPr>
        <p:spPr>
          <a:xfrm>
            <a:off x="6035040" y="2688336"/>
            <a:ext cx="50292" cy="4572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108192" y="27249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766560" y="27249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$500K</a:t>
            </a:r>
            <a:endParaRPr lang="en-US" sz="1000" dirty="0"/>
          </a:p>
        </p:txBody>
      </p:sp>
      <p:sp>
        <p:nvSpPr>
          <p:cNvPr id="25" name="Text 22"/>
          <p:cNvSpPr/>
          <p:nvPr/>
        </p:nvSpPr>
        <p:spPr>
          <a:xfrm>
            <a:off x="7424928" y="2724912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083296" y="2724912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$195K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6035040" y="3200400"/>
            <a:ext cx="50292" cy="457200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108192" y="3236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766560" y="3236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$2–3M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7424928" y="323697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33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15K+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8083296" y="3236976"/>
            <a:ext cx="6583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$350K+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365760" y="4069080"/>
            <a:ext cx="841248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502920" y="411480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ECONOMICS</a:t>
            </a:r>
            <a:endParaRPr lang="en-US" sz="900" dirty="0"/>
          </a:p>
        </p:txBody>
      </p:sp>
      <p:sp>
        <p:nvSpPr>
          <p:cNvPr id="34" name="Text 31"/>
          <p:cNvSpPr/>
          <p:nvPr/>
        </p:nvSpPr>
        <p:spPr>
          <a:xfrm>
            <a:off x="502920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$780</a:t>
            </a:r>
            <a:endParaRPr lang="en-US" sz="1600" dirty="0"/>
          </a:p>
        </p:txBody>
      </p:sp>
      <p:sp>
        <p:nvSpPr>
          <p:cNvPr id="35" name="Text 32"/>
          <p:cNvSpPr/>
          <p:nvPr/>
        </p:nvSpPr>
        <p:spPr>
          <a:xfrm>
            <a:off x="502920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892808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$50–80</a:t>
            </a:r>
            <a:endParaRPr lang="en-US" sz="1600" dirty="0"/>
          </a:p>
        </p:txBody>
      </p:sp>
      <p:sp>
        <p:nvSpPr>
          <p:cNvPr id="37" name="Text 34"/>
          <p:cNvSpPr/>
          <p:nvPr/>
        </p:nvSpPr>
        <p:spPr>
          <a:xfrm>
            <a:off x="1892808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target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3282696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E6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10:1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3282696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LTV:CAC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4672584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months</a:t>
            </a:r>
            <a:endParaRPr lang="en-US" sz="1600" dirty="0"/>
          </a:p>
        </p:txBody>
      </p:sp>
      <p:sp>
        <p:nvSpPr>
          <p:cNvPr id="41" name="Text 38"/>
          <p:cNvSpPr/>
          <p:nvPr/>
        </p:nvSpPr>
        <p:spPr>
          <a:xfrm>
            <a:off x="4672584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6062472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78A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14</a:t>
            </a:r>
            <a:endParaRPr lang="en-US" sz="1600" dirty="0"/>
          </a:p>
        </p:txBody>
      </p:sp>
      <p:sp>
        <p:nvSpPr>
          <p:cNvPr id="43" name="Text 40"/>
          <p:cNvSpPr/>
          <p:nvPr/>
        </p:nvSpPr>
        <p:spPr>
          <a:xfrm>
            <a:off x="6062472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7452360" y="43342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$2.3M</a:t>
            </a:r>
            <a:endParaRPr lang="en-US" sz="1600" dirty="0"/>
          </a:p>
        </p:txBody>
      </p:sp>
      <p:sp>
        <p:nvSpPr>
          <p:cNvPr id="45" name="Text 42"/>
          <p:cNvSpPr/>
          <p:nvPr/>
        </p:nvSpPr>
        <p:spPr>
          <a:xfrm>
            <a:off x="7452360" y="457200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Year 3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365760" y="4800600"/>
            <a:ext cx="8412480" cy="256032"/>
          </a:xfrm>
          <a:prstGeom prst="rect">
            <a:avLst/>
          </a:prstGeom>
          <a:solidFill>
            <a:srgbClr val="FFF3DC"/>
          </a:solidFill>
          <a:ln w="12700">
            <a:solidFill>
              <a:srgbClr val="FAC77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502920" y="481888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A75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Key risk: monthly churn &gt;8% pushes breakeven to M18+. Fix: ensure every tradie creates invoice in Day 1 of onboarding.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F3D2B"/>
          </a:solidFill>
          <a:ln w="12700">
            <a:solidFill>
              <a:srgbClr val="1F3D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321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  ·  ALL PHASES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11480" y="74980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8412480" cy="320040"/>
          </a:xfrm>
          <a:prstGeom prst="rect">
            <a:avLst/>
          </a:prstGeom>
          <a:solidFill>
            <a:srgbClr val="EDECEA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35331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325880" y="13533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246120" y="135331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40680" y="135331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691640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691640"/>
            <a:ext cx="50292" cy="5120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" y="1819656"/>
            <a:ext cx="658368" cy="2286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" y="181965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325880" y="174650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churn (&gt;8%/mo)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74650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Breakeven pushed to M18+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40680" y="174650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onboarding: tradie MUST create 1 invoice. Phone call setup. Track weekly.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235708"/>
            <a:ext cx="8412480" cy="512064"/>
          </a:xfrm>
          <a:prstGeom prst="rect">
            <a:avLst/>
          </a:prstGeom>
          <a:solidFill>
            <a:srgbClr val="F8F9F6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235708"/>
            <a:ext cx="50292" cy="512064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" y="2363724"/>
            <a:ext cx="658368" cy="228600"/>
          </a:xfrm>
          <a:prstGeom prst="rect">
            <a:avLst/>
          </a:prstGeom>
          <a:solidFill>
            <a:srgbClr val="E24B4A"/>
          </a:solidFill>
          <a:ln w="12700">
            <a:solidFill>
              <a:srgbClr val="E24B4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" y="2363724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325880" y="22905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Surcharge ban Oct 2026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246120" y="22905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flow needs refactor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440680" y="2290572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absorb-fee model by default now. Toggle for pass-through. Already planned.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2779776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65760" y="2779776"/>
            <a:ext cx="50292" cy="5120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5488" y="2907792"/>
            <a:ext cx="658368" cy="228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907792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325880" y="283464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GPS bottleneck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246120" y="283464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freeze at 500+ concurrent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2834640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GPS writes 5s. Socket.io server at 500 tradies. Redis pub/sub buffer.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65760" y="3323844"/>
            <a:ext cx="8412480" cy="512064"/>
          </a:xfrm>
          <a:prstGeom prst="rect">
            <a:avLst/>
          </a:prstGeom>
          <a:solidFill>
            <a:srgbClr val="F8F9F6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323844"/>
            <a:ext cx="50292" cy="5120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75488" y="3451860"/>
            <a:ext cx="658368" cy="228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" y="3451860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325880" y="33787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 API rate limiting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3246120" y="33787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sync failures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3378708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BullMQ async job queue from Day 1. Retry with backoff. Never block main request.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65760" y="3867912"/>
            <a:ext cx="8412480" cy="512064"/>
          </a:xfrm>
          <a:prstGeom prst="rect">
            <a:avLst/>
          </a:prstGeom>
          <a:solidFill>
            <a:srgbClr val="FFFFFF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65760" y="3867912"/>
            <a:ext cx="50292" cy="5120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75488" y="3995928"/>
            <a:ext cx="658368" cy="228600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5488" y="3995928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325880" y="392277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ServiceM8 copies features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3246120" y="392277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 differentiation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40680" y="3922776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effects + supplier partnerships = moat. Speed matters: ship fast.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365760" y="4411980"/>
            <a:ext cx="8412480" cy="512064"/>
          </a:xfrm>
          <a:prstGeom prst="rect">
            <a:avLst/>
          </a:prstGeom>
          <a:solidFill>
            <a:srgbClr val="F8F9F6"/>
          </a:solidFill>
          <a:ln w="6350">
            <a:solidFill>
              <a:srgbClr val="E8E6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65760" y="4411980"/>
            <a:ext cx="50292" cy="512064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5488" y="4539996"/>
            <a:ext cx="658368" cy="2286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" y="4539996"/>
            <a:ext cx="658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1325880" y="44668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Act compliance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3246120" y="44668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 / OAIC penalty</a:t>
            </a:r>
            <a:endParaRPr lang="en-US" sz="1000" dirty="0"/>
          </a:p>
        </p:txBody>
      </p:sp>
      <p:sp>
        <p:nvSpPr>
          <p:cNvPr id="51" name="Text 49"/>
          <p:cNvSpPr/>
          <p:nvPr/>
        </p:nvSpPr>
        <p:spPr>
          <a:xfrm>
            <a:off x="5440680" y="4466844"/>
            <a:ext cx="3246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RDS ap-southeast-2. No data leaves AU. Privacy policy from Day 1.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D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0" y="-731520"/>
            <a:ext cx="5029200" cy="5029200"/>
          </a:xfrm>
          <a:prstGeom prst="ellipse">
            <a:avLst/>
          </a:prstGeom>
          <a:solidFill>
            <a:srgbClr val="2E6B45">
              <a:alpha val="12000"/>
            </a:srgbClr>
          </a:solidFill>
          <a:ln w="12700">
            <a:solidFill>
              <a:srgbClr val="2E6B45">
                <a:alpha val="30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777240"/>
            <a:ext cx="475488" cy="47548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024128" y="7498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Immediate Next Steps</a:t>
            </a:r>
            <a:endParaRPr lang="en-US" sz="2600" dirty="0"/>
          </a:p>
        </p:txBody>
      </p:sp>
      <p:sp>
        <p:nvSpPr>
          <p:cNvPr id="6" name="Shape 3"/>
          <p:cNvSpPr/>
          <p:nvPr/>
        </p:nvSpPr>
        <p:spPr>
          <a:xfrm>
            <a:off x="457200" y="1417320"/>
            <a:ext cx="1993392" cy="3383280"/>
          </a:xfrm>
          <a:prstGeom prst="rect">
            <a:avLst/>
          </a:prstGeom>
          <a:solidFill>
            <a:srgbClr val="2E6B45">
              <a:alpha val="15000"/>
            </a:srgbClr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417320"/>
            <a:ext cx="1993392" cy="54864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5179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48640" y="190195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Set up Supabase project · Sydney region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48640" y="265176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Init React Native + Expo repo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48640" y="340156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Bolt.new prototype for tradie validation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615184" y="1417320"/>
            <a:ext cx="1993392" cy="3383280"/>
          </a:xfrm>
          <a:prstGeom prst="rect">
            <a:avLst/>
          </a:prstGeom>
          <a:solidFill>
            <a:srgbClr val="2E6B45">
              <a:alpha val="15000"/>
            </a:srgbClr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15184" y="1417320"/>
            <a:ext cx="1993392" cy="54864"/>
          </a:xfrm>
          <a:prstGeom prst="rect">
            <a:avLst/>
          </a:prstGeom>
          <a:solidFill>
            <a:srgbClr val="378ADD"/>
          </a:solidFill>
          <a:ln w="12700">
            <a:solidFill>
              <a:srgbClr val="378ADD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706624" y="15179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2706624" y="190195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Onboard 5 Brisbane plumbers for feedback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2706624" y="265176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Build Dashboard + Job Detail screens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2706624" y="340156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Stripe test account + webhook setup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773168" y="1417320"/>
            <a:ext cx="1993392" cy="3383280"/>
          </a:xfrm>
          <a:prstGeom prst="rect">
            <a:avLst/>
          </a:prstGeom>
          <a:solidFill>
            <a:srgbClr val="2E6B45">
              <a:alpha val="15000"/>
            </a:srgbClr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773168" y="1417320"/>
            <a:ext cx="1993392" cy="54864"/>
          </a:xfrm>
          <a:prstGeom prst="rect">
            <a:avLst/>
          </a:prstGeom>
          <a:solidFill>
            <a:srgbClr val="BA7517"/>
          </a:solidFill>
          <a:ln w="12700">
            <a:solidFill>
              <a:srgbClr val="BA751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864608" y="15179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2–3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4864608" y="190195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Invoice screen + GST logic + Tap to Pay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4864608" y="265176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Firebase offline sync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64608" y="340156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20 beta tradies via Facebook Groups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6931152" y="1417320"/>
            <a:ext cx="1993392" cy="3383280"/>
          </a:xfrm>
          <a:prstGeom prst="rect">
            <a:avLst/>
          </a:prstGeom>
          <a:solidFill>
            <a:srgbClr val="2E6B45">
              <a:alpha val="15000"/>
            </a:srgbClr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931152" y="1417320"/>
            <a:ext cx="1993392" cy="54864"/>
          </a:xfrm>
          <a:prstGeom prst="rect">
            <a:avLst/>
          </a:prstGeom>
          <a:solidFill>
            <a:srgbClr val="9333EA"/>
          </a:solidFill>
          <a:ln w="12700">
            <a:solidFill>
              <a:srgbClr val="9333E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022592" y="1517904"/>
            <a:ext cx="1810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0DD9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4–6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022592" y="1901952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Formal beta launch → 50 tradies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7022592" y="2651760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First paying customer conversion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022592" y="3401568"/>
            <a:ext cx="18105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Start Xero integration + Reece pitch prep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solidFill>
            <a:srgbClr val="2E6B45"/>
          </a:solidFill>
          <a:ln w="12700">
            <a:solidFill>
              <a:srgbClr val="2E6B4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57200" y="477316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 months · 4 phases · $2.3M ARR · 5,000 Australian tradies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TradieMate — Implementation Plan</dc:title>
  <dc:subject>PptxGenJS Presentation</dc:subject>
  <dc:creator>PptxGenJS</dc:creator>
  <cp:lastModifiedBy>PptxGenJS</cp:lastModifiedBy>
  <cp:revision>1</cp:revision>
  <dcterms:created xsi:type="dcterms:W3CDTF">2026-05-12T10:00:43Z</dcterms:created>
  <dcterms:modified xsi:type="dcterms:W3CDTF">2026-05-12T10:00:43Z</dcterms:modified>
</cp:coreProperties>
</file>