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Monthly Recurring Revenue (AUD)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(AUD)</c:v>
                </c:pt>
              </c:strCache>
            </c:strRef>
          </c:tx>
          <c:spPr>
            <a:solidFill>
              <a:srgbClr val="2E6B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M7</c:v>
                  </c:pt>
                  <c:pt idx="1">
                    <c:v>M8</c:v>
                  </c:pt>
                  <c:pt idx="2">
                    <c:v>M10</c:v>
                  </c:pt>
                  <c:pt idx="3">
                    <c:v>M12</c:v>
                  </c:pt>
                  <c:pt idx="4">
                    <c:v>M14</c:v>
                  </c:pt>
                  <c:pt idx="5">
                    <c:v>M18</c:v>
                  </c:pt>
                  <c:pt idx="6">
                    <c:v>M24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390</c:v>
                </c:pt>
                <c:pt idx="1">
                  <c:v>975</c:v>
                </c:pt>
                <c:pt idx="2">
                  <c:v>3120</c:v>
                </c:pt>
                <c:pt idx="3">
                  <c:v>7800</c:v>
                </c:pt>
                <c:pt idx="4">
                  <c:v>13650</c:v>
                </c:pt>
                <c:pt idx="5">
                  <c:v>27300</c:v>
                </c:pt>
                <c:pt idx="6">
                  <c:v>78000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2926080" cy="2926080"/>
          </a:xfrm>
          <a:prstGeom prst="ellipse">
            <a:avLst/>
          </a:prstGeom>
          <a:solidFill>
            <a:srgbClr val="2E6B45">
              <a:alpha val="20000"/>
            </a:srgbClr>
          </a:solidFill>
          <a:ln w="12700">
            <a:solidFill>
              <a:srgbClr val="2E6B45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005840"/>
            <a:ext cx="1828800" cy="1828800"/>
          </a:xfrm>
          <a:prstGeom prst="ellipse">
            <a:avLst/>
          </a:prstGeom>
          <a:solidFill>
            <a:srgbClr val="2E6B45">
              <a:alpha val="50000"/>
            </a:srgbClr>
          </a:solidFill>
          <a:ln w="12700">
            <a:solidFill>
              <a:srgbClr val="2E6B45">
                <a:alpha val="6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716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097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TradieMate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Management App for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Tradies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3200400"/>
            <a:ext cx="3474720" cy="411480"/>
          </a:xfrm>
          <a:prstGeom prst="rect">
            <a:avLst>
              <a:gd name="adj" fmla="val 11111"/>
            </a:avLst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2186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 → Know what to do → Get paid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 ·  May 2026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420,000 Australian tradies run their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on WhatsApp &amp; notepads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011680"/>
            <a:ext cx="2651760" cy="6400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488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chaos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5488" y="301752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Evenings spent typing invoices. Average payment time 21–28 days. GST calculated manually — ATO risk.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201168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0" y="2011680"/>
            <a:ext cx="2651760" cy="6400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1488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0128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you coming?"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10128" y="301752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call repeatedly. Tradies distracted while driving. No live tracking for homeowners.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201168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35040" y="2011680"/>
            <a:ext cx="2651760" cy="6400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488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44768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anxiety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44768" y="301752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 expiry dates. Expired public liability = no jobs, no income. Compliance is a daily stress.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tradies still manage jobs manually — this is an untapped, undigitised market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app. Everything a tradie needs.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91640"/>
            <a:ext cx="54864" cy="1371600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" y="21854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Dashboard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" y="24963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 → see today's jobs → navigate with one tap. Works offline in rural areas.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169164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0" y="1691640"/>
            <a:ext cx="54864" cy="13716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8288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0128" y="21854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Live Tracking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10128" y="24963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Uber-style ETA for customers. No more 'are you coming?' calls.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35040" y="169164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35040" y="1691640"/>
            <a:ext cx="54864" cy="13716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44768" y="21854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&amp; Tap to Pay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44768" y="24963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auto-calculated. Digital signature. Stripe Tap to Pay — no hardware needed.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65760" y="320040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65760" y="3200400"/>
            <a:ext cx="54864" cy="1371600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33756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5488" y="369417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Management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75488" y="40050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documents in one place. 60-day expiry alerts. Verified badge on customer profile.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00400" y="320040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200400" y="3200400"/>
            <a:ext cx="54864" cy="13716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337560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310128" y="369417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Supplies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310128" y="40050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Bunnings, Reece, Tradelink near job site when tradie needs parts mid-job.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35040" y="320040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035040" y="3200400"/>
            <a:ext cx="54864" cy="13716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337560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144768" y="369417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144768" y="40050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functionality — jobs, invoices, photos — even with no signal. Auto-sync on reconnect.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005840"/>
            <a:ext cx="3200400" cy="3200400"/>
          </a:xfrm>
          <a:prstGeom prst="ellipse">
            <a:avLst/>
          </a:prstGeom>
          <a:solidFill>
            <a:srgbClr val="1F3D2B">
              <a:alpha val="10000"/>
            </a:srgbClr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1508760"/>
            <a:ext cx="2194560" cy="2194560"/>
          </a:xfrm>
          <a:prstGeom prst="ellipse">
            <a:avLst/>
          </a:prstGeom>
          <a:solidFill>
            <a:srgbClr val="2E6B45">
              <a:alpha val="30000"/>
            </a:srgbClr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5960" y="2057400"/>
            <a:ext cx="1097280" cy="1097280"/>
          </a:xfrm>
          <a:prstGeom prst="ellipse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1.97M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17320" y="1554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65960" y="20848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0" y="1005840"/>
            <a:ext cx="37490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005840"/>
            <a:ext cx="54864" cy="868680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051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$142K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12080" y="14447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self-employed tradie turnover/yr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2011680"/>
            <a:ext cx="37490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2011680"/>
            <a:ext cx="54864" cy="86868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057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12080" y="24505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workforce will be Millennial/GenZ by 2033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3017520"/>
            <a:ext cx="37490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3017520"/>
            <a:ext cx="54864" cy="868680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30632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$29–49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212080" y="34564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 = 0.02% of revenue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4023360"/>
            <a:ext cx="37490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4023360"/>
            <a:ext cx="54864" cy="8686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40690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212080" y="44622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 period at $39 ARPU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weapons no competitor has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00200"/>
            <a:ext cx="2651760" cy="54864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737360"/>
            <a:ext cx="1005840" cy="274320"/>
          </a:xfrm>
          <a:prstGeom prst="rect">
            <a:avLst/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737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 #1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70992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5488" y="21488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Uber-style tracking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75488" y="260604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sees tradie ETA live — like Uber but for trades. ServiceM8, Tradify, Fergus don't offer this for solo tradies. Creates viral loop: every customer link = new TradieMate brand exposure.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60020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1600200"/>
            <a:ext cx="2651760" cy="54864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10128" y="1737360"/>
            <a:ext cx="1005840" cy="274320"/>
          </a:xfrm>
          <a:prstGeom prst="rect">
            <a:avLst/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10128" y="1737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 #2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0992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10128" y="21488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Supplies finder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310128" y="260604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Bunnings, Reece, Tradelink near the job site when tradie needs parts mid-job. No competitor has this feature. Opens supplier sponsorship revenue stream from Year 1.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035040" y="160020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35040" y="1600200"/>
            <a:ext cx="2651760" cy="54864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44768" y="1737360"/>
            <a:ext cx="1005840" cy="274320"/>
          </a:xfrm>
          <a:prstGeom prst="rect">
            <a:avLst/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144768" y="1737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 #3</a:t>
            </a:r>
            <a:endParaRPr lang="en-US" sz="9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709928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44768" y="21488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Pay — no hardware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144768" y="260604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iPhone/Android becomes the payment terminal. Stripe Tap to Pay — no Square Reader needed. Collect on-site instantly. Reduces unpaid invoice chasing from 28 days to zero.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57200" y="48554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ServiceM8 is iOS-only. TradieMate is iOS + Android — double the addressable market from day one.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24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$0/mo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tradie · 10 jobs/mo · Basic invoicing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651760" cy="2560320"/>
          </a:xfrm>
          <a:prstGeom prst="rect">
            <a:avLst/>
          </a:prstGeom>
          <a:solidFill>
            <a:srgbClr val="1F3D2B"/>
          </a:solidFill>
          <a:ln w="25400">
            <a:solidFill>
              <a:srgbClr val="2E6B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0" y="804672"/>
            <a:ext cx="1005840" cy="256032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8138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37560" y="1024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37560" y="14447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$39/mo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37560" y="2148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jobs · Xero sync · Live tracking · Document management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914400"/>
            <a:ext cx="2651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024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72200" y="14447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$99/mo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72200" y="2148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tradies · Admin dashboard · Team scheduling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Revenue Streams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2651760" cy="868680"/>
          </a:xfrm>
          <a:prstGeom prst="rect">
            <a:avLst/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sponsorship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4074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+$15–30K/yr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Reece, Bunnings featured placement · from Month 12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4114800"/>
            <a:ext cx="2651760" cy="868680"/>
          </a:xfrm>
          <a:prstGeom prst="rect">
            <a:avLst/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Group/employer plan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44074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+$50–100K ARR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4617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3–5 tradies · $99–149/mo · Year 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4114800"/>
            <a:ext cx="2651760" cy="868680"/>
          </a:xfrm>
          <a:prstGeom prst="rect">
            <a:avLst/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4160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volume margin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44074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+$5–10K/yr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4617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 tradies × $500 avg job × 5/mo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phases — from 0 to 5,000 tradies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00200"/>
            <a:ext cx="2651760" cy="54864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7190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Month 1–3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19933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Seeding — 50 tradies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450592"/>
            <a:ext cx="2423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Meet tradies at Bunnings &amp; trade suppliers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Free 3-month trial — no credit card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Brisbane plumbers first — density = word of mouth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Manual onboarding via phone call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60020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600200"/>
            <a:ext cx="265176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7190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Month 4–9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10128" y="19933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— 500 paying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2450592"/>
            <a:ext cx="2423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Referral: 'Introduce 1 tradie → 1 free month'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Google Ads: 'tradie invoice app australia'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Master Plumbers AU + NECA partnerships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TikTok/YouTube: day in the life content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60020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600200"/>
            <a:ext cx="2651760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17190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Month 10+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44768" y="19933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— 5,000+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44768" y="2450592"/>
            <a:ext cx="2423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Xero App Marketplace listing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Reece Plumbing + Bunnings Power Pass bundle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PR: 'tradie saves 5hrs/week' case studies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Group/employer plan — 3–5x ARPU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&amp; INVESTMENT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960120"/>
            <a:ext cx="15087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0" y="996696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$39/mo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669280" y="13075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315200" y="960120"/>
            <a:ext cx="15087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0" y="996696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0" y="13075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0" y="1673352"/>
            <a:ext cx="15087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0" y="170992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669280" y="202082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315200" y="1673352"/>
            <a:ext cx="15087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0" y="1709928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$50–80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315200" y="202082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target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669280" y="2386584"/>
            <a:ext cx="15087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0" y="2423160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669280" y="273405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315200" y="2386584"/>
            <a:ext cx="15087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0" y="2423160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315200" y="273405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669280" y="3099816"/>
            <a:ext cx="1508760" cy="621792"/>
          </a:xfrm>
          <a:prstGeom prst="rect">
            <a:avLst/>
          </a:prstGeom>
          <a:solidFill>
            <a:srgbClr val="EAF3DE"/>
          </a:solidFill>
          <a:ln w="19050">
            <a:solidFill>
              <a:srgbClr val="C0DD9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0" y="3136392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669280" y="344728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315200" y="3099816"/>
            <a:ext cx="15087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0" y="3136392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$2.3M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315200" y="344728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Year 3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65760" y="4023360"/>
            <a:ext cx="8412480" cy="86868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40690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$250K Pre-Seed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548640" y="44622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 dev team  ·  $60K GTM  ·  $25K infra  ·  $45K legal + buffer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754880" y="4069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15–20% equity  ·  500 tradies at M6 post-launch  ·  Seed raise at M18 with $500K ARR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Lean, modern, built to scale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605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54864" cy="731520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563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3776" y="18379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65960" y="15819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 one codebase. AI-assisted build with Cursor.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41605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508760"/>
            <a:ext cx="54864" cy="731520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15636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82896" y="18379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TypeScript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15819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SDK for Stripe, Xero, Firebase. Type-safe financial logic.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50008"/>
            <a:ext cx="41605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50008"/>
            <a:ext cx="54864" cy="731520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2404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" y="26791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65960" y="2423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 for invoices. PgBouncer built-in. Sydney region — Privacy Act compliant.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350008"/>
            <a:ext cx="41605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50008"/>
            <a:ext cx="54864" cy="731520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2404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82896" y="26791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2423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 — tradies use phone, not email. Tied to Postgres RLS.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191256"/>
            <a:ext cx="41605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191256"/>
            <a:ext cx="54864" cy="731520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3246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/ GPS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" y="3520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+ FCM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965960" y="32644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persistence built-in. Push notifications iOS + Android.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191256"/>
            <a:ext cx="41605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191256"/>
            <a:ext cx="54864" cy="731520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2896" y="3246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82896" y="3520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Tap to Pay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55080" y="32644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hardware. 1.7% AU card fee. Xero-ready invoice sync.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032504"/>
            <a:ext cx="41605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4032504"/>
            <a:ext cx="54864" cy="731520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" y="4087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3776" y="43616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Railway.app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965960" y="410565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deploys. Auto-scale. Migrate to AWS when 10K+ users.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032504"/>
            <a:ext cx="41605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4032504"/>
            <a:ext cx="54864" cy="731520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82896" y="4087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82896" y="43616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55080" y="410565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PDFs, job photos. S3-compatible. Same Sydney region.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457200"/>
            <a:ext cx="5029200" cy="5029200"/>
          </a:xfrm>
          <a:prstGeom prst="ellipse">
            <a:avLst/>
          </a:prstGeom>
          <a:solidFill>
            <a:srgbClr val="2E6B45">
              <a:alpha val="12000"/>
            </a:srgbClr>
          </a:solidFill>
          <a:ln w="12700">
            <a:solidFill>
              <a:srgbClr val="2E6B45">
                <a:alpha val="3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822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is clear.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5087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420,000 tradies — 85% not using any app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92938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 unique features competitors don't have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35000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LTV:CAC of 10:1 — extremely capital efficient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77063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Breakeven at 350 tradies — Month 14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19125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Supplier sponsorship unlocks second revenue stream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794760"/>
            <a:ext cx="4389120" cy="1005840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840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this together.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8640" y="42793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hello@tradiemate.com.au  ·  tradiemate.com.au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03520" y="3749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$2.3M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303520" y="427939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target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583680" y="3749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85K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0" y="427939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863840" y="3749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863840" y="427939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TradieMate — Investor Pitch Deck</dc:title>
  <dc:subject>PptxGenJS Presentation</dc:subject>
  <dc:creator>PptxGenJS</dc:creator>
  <cp:lastModifiedBy>PptxGenJS</cp:lastModifiedBy>
  <cp:revision>1</cp:revision>
  <dcterms:created xsi:type="dcterms:W3CDTF">2026-05-12T09:45:28Z</dcterms:created>
  <dcterms:modified xsi:type="dcterms:W3CDTF">2026-05-12T09:45:28Z</dcterms:modified>
</cp:coreProperties>
</file>